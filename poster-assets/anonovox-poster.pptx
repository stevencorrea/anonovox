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603200" cy="2011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00" cy="2011680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22860" cy="173736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68680" y="868680"/>
            <a:ext cx="548639" cy="0"/>
          </a:xfrm>
          <a:prstGeom prst="line">
            <a:avLst/>
          </a:prstGeom>
          <a:ln w="952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68680" y="868680"/>
            <a:ext cx="0" cy="548639"/>
          </a:xfrm>
          <a:prstGeom prst="line">
            <a:avLst/>
          </a:prstGeom>
          <a:ln w="952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4185880" y="868680"/>
            <a:ext cx="548640" cy="0"/>
          </a:xfrm>
          <a:prstGeom prst="line">
            <a:avLst/>
          </a:prstGeom>
          <a:ln w="952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734520" y="868680"/>
            <a:ext cx="0" cy="548639"/>
          </a:xfrm>
          <a:prstGeom prst="line">
            <a:avLst/>
          </a:prstGeom>
          <a:ln w="952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19248120"/>
            <a:ext cx="548639" cy="0"/>
          </a:xfrm>
          <a:prstGeom prst="line">
            <a:avLst/>
          </a:prstGeom>
          <a:ln w="952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8680" y="18699480"/>
            <a:ext cx="0" cy="548640"/>
          </a:xfrm>
          <a:prstGeom prst="line">
            <a:avLst/>
          </a:prstGeom>
          <a:ln w="952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4185880" y="19248120"/>
            <a:ext cx="548640" cy="0"/>
          </a:xfrm>
          <a:prstGeom prst="line">
            <a:avLst/>
          </a:prstGeom>
          <a:ln w="952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734520" y="18699480"/>
            <a:ext cx="0" cy="548640"/>
          </a:xfrm>
          <a:prstGeom prst="line">
            <a:avLst/>
          </a:prstGeom>
          <a:ln w="952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914400"/>
            <a:ext cx="1645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0" i="0" spc="400">
                <a:solidFill>
                  <a:srgbClr val="0A0805"/>
                </a:solidFill>
                <a:latin typeface="Prata"/>
              </a:rPr>
              <a:t>anono</a:t>
            </a:r>
            <a:r>
              <a:rPr sz="9600" b="1" i="0" spc="400">
                <a:solidFill>
                  <a:srgbClr val="1D2D63"/>
                </a:solidFill>
                <a:latin typeface="Prata"/>
              </a:rPr>
              <a:t>vox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0A0805"/>
                </a:solidFill>
                <a:latin typeface="Prata"/>
              </a:rPr>
              <a:t>Candor, </a:t>
            </a:r>
            <a:r>
              <a:rPr sz="3600" b="0" i="0">
                <a:solidFill>
                  <a:srgbClr val="1D2D63"/>
                </a:solidFill>
                <a:latin typeface="Prata"/>
              </a:rPr>
              <a:t>delivered.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745200" y="1088136"/>
            <a:ext cx="256032" cy="0"/>
          </a:xfrm>
          <a:prstGeom prst="line">
            <a:avLst/>
          </a:prstGeom>
          <a:ln w="1587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110960" y="99669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1D2D63"/>
                </a:solidFill>
                <a:latin typeface="Inter"/>
              </a:rPr>
              <a:t>CAPSTONE · SPRING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0" y="13716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0A0805"/>
                </a:solidFill>
                <a:latin typeface="Prata"/>
              </a:rPr>
              <a:t>Steven Correa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0" y="19202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3D3833"/>
                </a:solidFill>
                <a:latin typeface="Inter"/>
              </a:rPr>
              <a:t>Anonymous organizational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0" y="2331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560"/>
                </a:solidFill>
                <a:latin typeface="Inter"/>
              </a:rPr>
              <a:t>anonovox.dev   ·   github.com/scorr/anonovox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063240"/>
            <a:ext cx="23865840" cy="0"/>
          </a:xfrm>
          <a:prstGeom prst="line">
            <a:avLst/>
          </a:prstGeom>
          <a:ln w="19050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concept-water-coo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520440"/>
            <a:ext cx="3135086" cy="5486400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5120640" y="3630168"/>
            <a:ext cx="256032" cy="0"/>
          </a:xfrm>
          <a:prstGeom prst="line">
            <a:avLst/>
          </a:prstGeom>
          <a:ln w="1587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0" y="35387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1D2D63"/>
                </a:solidFill>
                <a:latin typeface="Inter"/>
              </a:rPr>
              <a:t>THE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023360"/>
            <a:ext cx="1965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0" i="0">
                <a:solidFill>
                  <a:srgbClr val="0A0805"/>
                </a:solidFill>
                <a:latin typeface="Prata"/>
              </a:rPr>
              <a:t>What gets said at the water cooler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074920"/>
            <a:ext cx="1965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0" i="1">
                <a:solidFill>
                  <a:srgbClr val="1D2D63"/>
                </a:solidFill>
                <a:latin typeface="Prata"/>
              </a:rPr>
              <a:t>rarely makes it to the room where decisions get made.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6080760"/>
            <a:ext cx="15544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3D3833"/>
                </a:solidFill>
                <a:latin typeface="Inter"/>
              </a:rPr>
              <a:t>anonovox collects honest feedback on a cadence leadership cannot ignore —</a:t>
            </a:r>
          </a:p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3D3833"/>
                </a:solidFill>
                <a:latin typeface="Inter"/>
              </a:rPr>
              <a:t>protecting the speaker, removing plausible deniability from the listener.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9464040"/>
            <a:ext cx="23865840" cy="0"/>
          </a:xfrm>
          <a:prstGeom prst="line">
            <a:avLst/>
          </a:prstGeom>
          <a:ln w="9525">
            <a:solidFill>
              <a:srgbClr val="C9B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8680" y="9710928"/>
            <a:ext cx="256032" cy="0"/>
          </a:xfrm>
          <a:prstGeom prst="line">
            <a:avLst/>
          </a:prstGeom>
          <a:ln w="1587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34440" y="96194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1D2D63"/>
                </a:solidFill>
                <a:latin typeface="Inter"/>
              </a:rPr>
              <a:t>THE SOLUTION · THREE GUARANTEES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10149840"/>
            <a:ext cx="768096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" y="10149840"/>
            <a:ext cx="7680960" cy="54864"/>
          </a:xfrm>
          <a:prstGeom prst="rect">
            <a:avLst/>
          </a:prstGeom>
          <a:solidFill>
            <a:srgbClr val="1D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oncept-mask-anonym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561319"/>
            <a:ext cx="914400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86600" y="104698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0" i="0">
                <a:solidFill>
                  <a:srgbClr val="DDE1F2"/>
                </a:solidFill>
                <a:latin typeface="Prata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1156716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805"/>
                </a:solidFill>
                <a:latin typeface="Prata"/>
              </a:rPr>
              <a:t>Anonymous by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12024359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D3833"/>
                </a:solidFill>
                <a:latin typeface="Inter"/>
              </a:rPr>
              <a:t>Identity decoupled at ingest. Two schemas, two roles, zero leakage.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10149840"/>
            <a:ext cx="768096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15400" y="10149840"/>
            <a:ext cx="7680960" cy="54864"/>
          </a:xfrm>
          <a:prstGeom prst="rect">
            <a:avLst/>
          </a:prstGeom>
          <a:solidFill>
            <a:srgbClr val="1D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oncept-batch-deliv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0561319"/>
            <a:ext cx="914400" cy="914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33319" y="104698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0" i="0">
                <a:solidFill>
                  <a:srgbClr val="DDE1F2"/>
                </a:solidFill>
                <a:latin typeface="Prata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1156716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805"/>
                </a:solidFill>
                <a:latin typeface="Prata"/>
              </a:rPr>
              <a:t>Batched by cadence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12024359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D3833"/>
                </a:solidFill>
                <a:latin typeface="Inter"/>
              </a:rPr>
              <a:t>Curated digests, not a firehose. Leadership reads — not skims.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62120" y="10149840"/>
            <a:ext cx="768096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962120" y="10149840"/>
            <a:ext cx="7680960" cy="54864"/>
          </a:xfrm>
          <a:prstGeom prst="rect">
            <a:avLst/>
          </a:prstGeom>
          <a:solidFill>
            <a:srgbClr val="1D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oncept-feedback-bub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0" y="10561319"/>
            <a:ext cx="914400" cy="914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3180040" y="104698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0" i="0">
                <a:solidFill>
                  <a:srgbClr val="DDE1F2"/>
                </a:solidFill>
                <a:latin typeface="Prata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0" y="1156716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805"/>
                </a:solidFill>
                <a:latin typeface="Prata"/>
              </a:rPr>
              <a:t>Inevitable by delivery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0" y="12024359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D3833"/>
                </a:solidFill>
                <a:latin typeface="Inter"/>
              </a:rPr>
              <a:t>Every batch is published org-wide. Silence is no longer an option.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68680" y="12847320"/>
            <a:ext cx="23865840" cy="0"/>
          </a:xfrm>
          <a:prstGeom prst="line">
            <a:avLst/>
          </a:prstGeom>
          <a:ln w="9525">
            <a:solidFill>
              <a:srgbClr val="C9B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8680" y="13094208"/>
            <a:ext cx="256032" cy="0"/>
          </a:xfrm>
          <a:prstGeom prst="line">
            <a:avLst/>
          </a:prstGeom>
          <a:ln w="1587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234440" y="130027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1D2D63"/>
                </a:solidFill>
                <a:latin typeface="Inter"/>
              </a:rPr>
              <a:t>HOW IT WORKS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1353312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0" i="0">
                <a:solidFill>
                  <a:srgbClr val="1D2D63"/>
                </a:solidFill>
                <a:latin typeface="Prata"/>
              </a:rPr>
              <a:t>01</a:t>
            </a:r>
          </a:p>
        </p:txBody>
      </p:sp>
      <p:pic>
        <p:nvPicPr>
          <p:cNvPr id="51" name="Picture 50" descr="concept-voice-mega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4401800"/>
            <a:ext cx="640080" cy="6400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240280" y="1360627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0805"/>
                </a:solidFill>
                <a:latin typeface="Prata"/>
              </a:rPr>
              <a:t>Submit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240280" y="14100048"/>
            <a:ext cx="548640" cy="0"/>
          </a:xfrm>
          <a:prstGeom prst="line">
            <a:avLst/>
          </a:prstGeom>
          <a:ln w="12700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240280" y="14246352"/>
            <a:ext cx="44805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D3833"/>
                </a:solidFill>
                <a:latin typeface="Inter"/>
              </a:rPr>
              <a:t>Anyone in the org submits via the web UI — no account required.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1353312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0" i="0">
                <a:solidFill>
                  <a:srgbClr val="1D2D63"/>
                </a:solidFill>
                <a:latin typeface="Prata"/>
              </a:rPr>
              <a:t>02</a:t>
            </a:r>
          </a:p>
        </p:txBody>
      </p:sp>
      <p:pic>
        <p:nvPicPr>
          <p:cNvPr id="56" name="Picture 55" descr="concept-scrambl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4401800"/>
            <a:ext cx="640080" cy="64008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229600" y="1360627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0805"/>
                </a:solidFill>
                <a:latin typeface="Prata"/>
              </a:rPr>
              <a:t>Scramble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229600" y="14100048"/>
            <a:ext cx="548640" cy="0"/>
          </a:xfrm>
          <a:prstGeom prst="line">
            <a:avLst/>
          </a:prstGeom>
          <a:ln w="12700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229600" y="14246352"/>
            <a:ext cx="44805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D3833"/>
                </a:solidFill>
                <a:latin typeface="Inter"/>
              </a:rPr>
              <a:t>On-device AI strips stylometric fingerprints before the message leaves the browser.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47320" y="1353312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0" i="0">
                <a:solidFill>
                  <a:srgbClr val="1D2D63"/>
                </a:solidFill>
                <a:latin typeface="Prata"/>
              </a:rPr>
              <a:t>03</a:t>
            </a:r>
          </a:p>
        </p:txBody>
      </p:sp>
      <p:pic>
        <p:nvPicPr>
          <p:cNvPr id="61" name="Picture 60" descr="concept-batch-deliv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0" y="14401800"/>
            <a:ext cx="640080" cy="6400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4218920" y="1360627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0805"/>
                </a:solidFill>
                <a:latin typeface="Prata"/>
              </a:rPr>
              <a:t>Batch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218920" y="14100048"/>
            <a:ext cx="548640" cy="0"/>
          </a:xfrm>
          <a:prstGeom prst="line">
            <a:avLst/>
          </a:prstGeom>
          <a:ln w="12700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218920" y="14246352"/>
            <a:ext cx="44805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D3833"/>
                </a:solidFill>
                <a:latin typeface="Inter"/>
              </a:rPr>
              <a:t>Submissions group into themed batches. Identity is sealed in a separate schema.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836640" y="1353312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0" i="0">
                <a:solidFill>
                  <a:srgbClr val="1D2D63"/>
                </a:solidFill>
                <a:latin typeface="Prata"/>
              </a:rPr>
              <a:t>04</a:t>
            </a:r>
          </a:p>
        </p:txBody>
      </p:sp>
      <p:pic>
        <p:nvPicPr>
          <p:cNvPr id="66" name="Picture 65" descr="concept-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82360" y="14401800"/>
            <a:ext cx="640080" cy="6400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0208240" y="1360627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0805"/>
                </a:solidFill>
                <a:latin typeface="Prata"/>
              </a:rPr>
              <a:t>Read · Respond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0208240" y="14100048"/>
            <a:ext cx="548640" cy="0"/>
          </a:xfrm>
          <a:prstGeom prst="line">
            <a:avLst/>
          </a:prstGeom>
          <a:ln w="12700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0208240" y="14246352"/>
            <a:ext cx="44805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D3833"/>
                </a:solidFill>
                <a:latin typeface="Inter"/>
              </a:rPr>
              <a:t>Leadership reviews and replies. Responses publish back to the org.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68680" y="15910559"/>
            <a:ext cx="23865840" cy="0"/>
          </a:xfrm>
          <a:prstGeom prst="line">
            <a:avLst/>
          </a:prstGeom>
          <a:ln w="9525">
            <a:solidFill>
              <a:srgbClr val="C9B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68680" y="16157448"/>
            <a:ext cx="256032" cy="0"/>
          </a:xfrm>
          <a:prstGeom prst="line">
            <a:avLst/>
          </a:prstGeom>
          <a:ln w="15875">
            <a:solidFill>
              <a:srgbClr val="1D2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234440" y="16066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1D2D63"/>
                </a:solidFill>
                <a:latin typeface="Inter"/>
              </a:rPr>
              <a:t>BUILT WITH</a:t>
            </a:r>
          </a:p>
        </p:txBody>
      </p:sp>
      <p:pic>
        <p:nvPicPr>
          <p:cNvPr id="73" name="Picture 72" descr="stack-bu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4455" y="16733520"/>
            <a:ext cx="914400" cy="9144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68680" y="17785080"/>
            <a:ext cx="18859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100">
                <a:solidFill>
                  <a:srgbClr val="3D3833"/>
                </a:solidFill>
                <a:latin typeface="Inter"/>
              </a:rPr>
              <a:t>Bun</a:t>
            </a:r>
          </a:p>
        </p:txBody>
      </p:sp>
      <p:pic>
        <p:nvPicPr>
          <p:cNvPr id="75" name="Picture 74" descr="stack-typescrip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0405" y="16733520"/>
            <a:ext cx="914400" cy="914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754630" y="17785080"/>
            <a:ext cx="18859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100">
                <a:solidFill>
                  <a:srgbClr val="3D3833"/>
                </a:solidFill>
                <a:latin typeface="Inter"/>
              </a:rPr>
              <a:t>TypeScript</a:t>
            </a:r>
          </a:p>
        </p:txBody>
      </p:sp>
      <p:pic>
        <p:nvPicPr>
          <p:cNvPr id="77" name="Picture 76" descr="stack-postgre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6355" y="16733520"/>
            <a:ext cx="914400" cy="9144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640580" y="17785080"/>
            <a:ext cx="18859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100">
                <a:solidFill>
                  <a:srgbClr val="3D3833"/>
                </a:solidFill>
                <a:latin typeface="Inter"/>
              </a:rPr>
              <a:t>PostgreSQL</a:t>
            </a:r>
          </a:p>
        </p:txBody>
      </p:sp>
      <p:pic>
        <p:nvPicPr>
          <p:cNvPr id="79" name="Picture 78" descr="stack-dock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2304" y="16733520"/>
            <a:ext cx="914400" cy="9144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526529" y="17785080"/>
            <a:ext cx="18859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100">
                <a:solidFill>
                  <a:srgbClr val="3D3833"/>
                </a:solidFill>
                <a:latin typeface="Inter"/>
              </a:rPr>
              <a:t>Docker</a:t>
            </a:r>
          </a:p>
        </p:txBody>
      </p:sp>
      <p:pic>
        <p:nvPicPr>
          <p:cNvPr id="81" name="Picture 80" descr="stack-better-aut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8255" y="16733520"/>
            <a:ext cx="914400" cy="9144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412480" y="17785080"/>
            <a:ext cx="18859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100">
                <a:solidFill>
                  <a:srgbClr val="3D3833"/>
                </a:solidFill>
                <a:latin typeface="Inter"/>
              </a:rPr>
              <a:t>Better Auth</a:t>
            </a:r>
          </a:p>
        </p:txBody>
      </p:sp>
      <p:pic>
        <p:nvPicPr>
          <p:cNvPr id="83" name="Picture 82" descr="stack-transformer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84205" y="16733520"/>
            <a:ext cx="914400" cy="91440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298430" y="17785080"/>
            <a:ext cx="18859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100">
                <a:solidFill>
                  <a:srgbClr val="3D3833"/>
                </a:solidFill>
                <a:latin typeface="Inter"/>
              </a:rPr>
              <a:t>Transformers.js</a:t>
            </a:r>
          </a:p>
        </p:txBody>
      </p:sp>
      <p:pic>
        <p:nvPicPr>
          <p:cNvPr id="85" name="Picture 84" descr="stack-chartj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70155" y="16733520"/>
            <a:ext cx="914400" cy="9144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2184380" y="17785080"/>
            <a:ext cx="18859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100">
                <a:solidFill>
                  <a:srgbClr val="3D3833"/>
                </a:solidFill>
                <a:latin typeface="Inter"/>
              </a:rPr>
              <a:t>Chart.js</a:t>
            </a:r>
          </a:p>
        </p:txBody>
      </p:sp>
      <p:pic>
        <p:nvPicPr>
          <p:cNvPr id="87" name="Picture 86" descr="stack-opentelemetr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556105" y="16733520"/>
            <a:ext cx="914400" cy="9144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4070330" y="17785080"/>
            <a:ext cx="18859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100">
                <a:solidFill>
                  <a:srgbClr val="3D3833"/>
                </a:solidFill>
                <a:latin typeface="Inter"/>
              </a:rPr>
              <a:t>OpenTelemetry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459200" y="16002000"/>
            <a:ext cx="82753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459200" y="16002000"/>
            <a:ext cx="8275320" cy="54864"/>
          </a:xfrm>
          <a:prstGeom prst="rect">
            <a:avLst/>
          </a:prstGeom>
          <a:solidFill>
            <a:srgbClr val="1D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concept-shield-privac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824960" y="16322040"/>
            <a:ext cx="960120" cy="96012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8013680" y="16386048"/>
            <a:ext cx="6537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805"/>
                </a:solidFill>
                <a:latin typeface="Prata"/>
              </a:rPr>
              <a:t>Privacy by schema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013680" y="16843248"/>
            <a:ext cx="6537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spc="100">
                <a:solidFill>
                  <a:srgbClr val="6B6560"/>
                </a:solidFill>
                <a:latin typeface="Inter"/>
              </a:rPr>
              <a:t>PostgreSQL role separation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824960" y="17419320"/>
            <a:ext cx="7543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3D3833"/>
                </a:solidFill>
                <a:latin typeface="Consolas"/>
              </a:rPr>
              <a:t>reporting.feedback_responses    →   dashboard role can read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3D3833"/>
                </a:solidFill>
                <a:latin typeface="Consolas"/>
              </a:rPr>
              <a:t>private.feedback_identity            →   sealed, dashboard cannot read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68680" y="18790920"/>
            <a:ext cx="23865840" cy="0"/>
          </a:xfrm>
          <a:prstGeom prst="line">
            <a:avLst/>
          </a:prstGeom>
          <a:ln w="9525">
            <a:solidFill>
              <a:srgbClr val="C9B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868680" y="18973800"/>
            <a:ext cx="1280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A0805"/>
                </a:solidFill>
                <a:latin typeface="Prata"/>
              </a:rPr>
              <a:t>anonovox · capstone project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" y="19476720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00">
                <a:solidFill>
                  <a:srgbClr val="6B6560"/>
                </a:solidFill>
                <a:latin typeface="Inter"/>
              </a:rPr>
              <a:t>Bun · PostgreSQL · Better Auth · Transformers.js · Docker · OpenTelemetry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00" y="18973800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 spc="100">
                <a:solidFill>
                  <a:srgbClr val="3D3833"/>
                </a:solidFill>
                <a:latin typeface="Inter"/>
              </a:rPr>
              <a:t>Steven Correa  ·  Spring 2026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0" y="1947672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 spc="100">
                <a:solidFill>
                  <a:srgbClr val="6B6560"/>
                </a:solidFill>
                <a:latin typeface="Inter"/>
              </a:rPr>
              <a:t>github.com/scorr/anonovox  ·  steven.a.correa@gmail.com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